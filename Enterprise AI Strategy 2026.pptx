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148780"/>
            <a:ext cx="342900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77097" y="2710755"/>
            <a:ext cx="7437804" cy="6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b="0" sz="4350" i="0" u="none">
                <a:solidFill>
                  <a:srgbClr val="0F172A"/>
                </a:solidFill>
                <a:latin typeface="Plus Jakarta Sans ExtraBold"/>
              </a:rPr>
              <a:t>Enterprise AI Strategy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08920"/>
            <a:ext cx="8096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From Pilot Projects to Scaled Value: A Roadmap for Autonomous Workflows, Governance, and Measurable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2875" y="4518570"/>
            <a:ext cx="4286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 Medium"/>
              </a:rPr>
              <a:t>Prepared for Executive Leadership &amp; Operations Committee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2253555"/>
            <a:ext cx="1428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00725" y="2314575"/>
            <a:ext cx="590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1740" y="2657475"/>
            <a:ext cx="820836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The 2026 AI Enterprise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3971925"/>
            <a:ext cx="685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Understanding the structural shift from basic copilot assistance to autonomous agentic workflows and measurable business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487"/>
            <a:ext cx="5381625" cy="2057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57487"/>
            <a:ext cx="5381625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0757" y="3109912"/>
            <a:ext cx="4514939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lus Jakarta Sans"/>
              </a:rPr>
              <a:t>High Tool Adoption (88%)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90912"/>
            <a:ext cx="46767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Nearly 9 out of 10 enterprises have deployed generative AI tools across business functions. However, standard usage remains concentrated in unstructured task automation, copy drafting, and sporadic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9557" y="3109912"/>
            <a:ext cx="4544943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lus Jakarta Sans"/>
              </a:rPr>
              <a:t>Low Scaled Impact (&lt;10%)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490912"/>
            <a:ext cx="46767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Fewer than 10% of organizations have redesigned core operating workflows around AI. The market is shifting focus from vanity active-user counts to concrete bottom-line EBIT contribution.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138487"/>
            <a:ext cx="262532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3138487"/>
            <a:ext cx="233957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Adoption vs Impact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Rise of Autonomous AI Agents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19375"/>
            <a:ext cx="52006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Beyond Human-Prompted Copilots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00375"/>
            <a:ext cx="4953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In 2026, enterprise AI has evolved from reactive chat interfaces to proactive autonomous agents capable of multi-step task execution across legacy business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881437"/>
            <a:ext cx="4686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Cross-system API interaction without human 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38625"/>
            <a:ext cx="4686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Context-aware decision making in complex supply 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595812"/>
            <a:ext cx="4686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Automated exception routing and operational audit trails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81437"/>
            <a:ext cx="161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2563EB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238625"/>
            <a:ext cx="161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2563EB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595812"/>
            <a:ext cx="1619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2563EB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1718"/>
            <a:ext cx="3530649" cy="2928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21718"/>
            <a:ext cx="3530649" cy="2928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21718"/>
            <a:ext cx="3530649" cy="2928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36043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408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Agentic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1893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Deploying specialized AI agents to handle end-to-end operational processes, reducing manual handoffs and speeding up execution by up to 60%.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36043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408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Workplace 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21893"/>
            <a:ext cx="29781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Rethinking job roles and workflows around AI collaboration rather than forcing AI into rigid pre-existing process maps.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36043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40893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Responsible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21893"/>
            <a:ext cx="297819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Enforcing strict data boundary guardrails, regulatory compliance, and auditable lineage across all deployed intelligence tools.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2778918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778918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99" y="2778918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Three Pillars of AI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137"/>
            <a:ext cx="4762500" cy="232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100387"/>
            <a:ext cx="4000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38BDF8"/>
                </a:solidFill>
                <a:latin typeface="Plus Jakarta Sans ExtraBold"/>
              </a:rPr>
              <a:t>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43387"/>
            <a:ext cx="400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Inter SemiBold"/>
              </a:rPr>
              <a:t>Report Measurable EBIT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0" y="3057525"/>
            <a:ext cx="60007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Closing the Value Realization Deficit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0" y="3543300"/>
            <a:ext cx="57150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While 88% of enterprises leverage AI, only 39% report direct revenue or margin expansion. Leading organizations achieve positive return by targeting high-volume operational bottlenecks using the FAST criteria: Frequent, Auditable, Simple, and Transferable processes.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Enterprise AI ROI 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667250"/>
            <a:ext cx="110490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800600"/>
            <a:ext cx="10668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Most enterprises remain clustered in Stage 2 &amp; 3. The strategic objective for 2026 is moving into Stage 4 (Embedded), where AI is integrated seamlessly into daily operating cadence.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667250"/>
            <a:ext cx="38100" cy="7524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AI Maturity Distribution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5067300"/>
            <a:ext cx="110490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200650"/>
            <a:ext cx="10668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Initial value capture is dominated by productivity gains. Sustained leadership requires shifting from simple efficiency gains toward new market revenue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067300"/>
            <a:ext cx="38100" cy="7524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Primary Enterprise Value Drivers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14600"/>
          <a:ext cx="11029947" cy="254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96256"/>
                <a:gridCol w="3049934"/>
                <a:gridCol w="2886967"/>
                <a:gridCol w="2896790"/>
              </a:tblGrid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Capability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Governance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Expected EBIT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Desktop Copilots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Individual employee task assistance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Low (Standard User Guardrails)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5% – 10% Personal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Workflow Automation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Departmental rules-based tasks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Moderate (Role &amp; Data Access)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15% – 25% Time Savings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Autonomous AI Agents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End-to-end process orchestration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High (Auditability &amp; Policy)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30% – 50% Process Acceleration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Custom Industry 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Core business model differentiation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Very High (Model Lineage &amp; Risk)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Strategic Market Advantage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028950"/>
            <a:ext cx="2196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77281" y="3028950"/>
            <a:ext cx="3049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7216" y="3028950"/>
            <a:ext cx="2886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14184" y="3028950"/>
            <a:ext cx="28967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533775"/>
            <a:ext cx="2196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7281" y="3533775"/>
            <a:ext cx="3049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27216" y="3533775"/>
            <a:ext cx="2886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14184" y="3533775"/>
            <a:ext cx="28967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4038600"/>
            <a:ext cx="2196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7281" y="4038600"/>
            <a:ext cx="3049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27216" y="4038600"/>
            <a:ext cx="2886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14184" y="4038600"/>
            <a:ext cx="28967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543425"/>
            <a:ext cx="21962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77281" y="4543425"/>
            <a:ext cx="3049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27216" y="4543425"/>
            <a:ext cx="2886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14184" y="4543425"/>
            <a:ext cx="28967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AI Operating Model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4787"/>
            <a:ext cx="2541240" cy="1236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21421"/>
            <a:ext cx="2541240" cy="12361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14787"/>
            <a:ext cx="2541240" cy="12361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21421"/>
            <a:ext cx="2541240" cy="12361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671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995" y="4214812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3A8A"/>
                </a:solidFill>
                <a:latin typeface="Plus Jakarta Sans"/>
              </a:rPr>
              <a:t>Q1: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491037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Map high-cost workflows, establish AI safety guardrails, and clean core data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521446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3A8A"/>
                </a:solidFill>
                <a:latin typeface="Plus Jakarta Sans"/>
              </a:rPr>
              <a:t>Q2: 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797671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Deploy one end-to-end production system and measure verified ROI metrics.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214812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3A8A"/>
                </a:solidFill>
                <a:latin typeface="Plus Jakarta Sans"/>
              </a:rPr>
              <a:t>Q3: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491037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Expand agentic workflows across adjacent business units with central oversight.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521446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3A8A"/>
                </a:solidFill>
                <a:latin typeface="Plus Jakarta Sans"/>
              </a:rPr>
              <a:t>Q4: 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797671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Integrate AI into annual planning, operating KPIs, and talent management frameworks.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4-Stage Implementation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6395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2315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823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6415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175" y="2926109"/>
            <a:ext cx="9391650" cy="977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7"/>
              </a:lnSpc>
            </a:pPr>
            <a:r>
              <a:rPr b="0" sz="2850" i="0" u="none">
                <a:solidFill>
                  <a:srgbClr val="0F172A"/>
                </a:solidFill>
                <a:latin typeface="Plus Jakarta Sans SemiBold"/>
              </a:rPr>
              <a:t>Deploying a copilot is the easy part. Redesigning how work actually gets done is the true leadership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100" y="4189065"/>
            <a:ext cx="3733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2563EB"/>
                </a:solidFill>
                <a:latin typeface="Inter"/>
              </a:rPr>
              <a:t>Enterprise Technology &amp; Strategy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175" y="4455765"/>
            <a:ext cx="9391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Deloitte AI Pulse Check &amp; State of 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75" y="3211859"/>
            <a:ext cx="590550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BFDBFE"/>
                </a:solidFill>
                <a:latin typeface="Plus Jakarta Sans SemiBold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Strategic Work Redesign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400" i="0" u="none">
                <a:solidFill>
                  <a:srgbClr val="0F172A"/>
                </a:solidFill>
                <a:latin typeface="Plus Jakarta Sans ExtraBold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95425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Let's map out your organization's tailored AI adoption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6695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E3A8A"/>
                </a:solidFill>
                <a:latin typeface="Inter SemiBold"/>
              </a:rPr>
              <a:t>Strategic Advisory Team | enterprise-strategy@organization.com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4806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462337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https://png.pngtree.com/thumb_back/fw800/background/20251225/pngtree-futuristic-holographic-display-with-data-visualization-in-a-modern-presentation-room-image_20909826.webp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881437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